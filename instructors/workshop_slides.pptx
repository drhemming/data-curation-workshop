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4114800" cy="4114800"/>
          </a:xfrm>
          <a:prstGeom prst="ellipse">
            <a:avLst/>
          </a:prstGeom>
          <a:solidFill>
            <a:srgbClr val="2D7D54">
              <a:alpha val="25000"/>
            </a:srgbClr>
          </a:solidFill>
          <a:ln w="12700">
            <a:solidFill>
              <a:srgbClr val="2D7D54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2D7D54">
              <a:alpha val="20000"/>
            </a:srgbClr>
          </a:solidFill>
          <a:ln w="12700">
            <a:solidFill>
              <a:srgbClr val="2D7D54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0"/>
            <a:ext cx="9144000" cy="36576"/>
          </a:xfrm>
          <a:prstGeom prst="rect">
            <a:avLst/>
          </a:prstGeom>
          <a:solidFill>
            <a:srgbClr val="52A875">
              <a:alpha val="60000"/>
            </a:srgbClr>
          </a:solidFill>
          <a:ln w="12700">
            <a:solidFill>
              <a:srgbClr val="52A875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777240"/>
            <a:ext cx="7680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LLMs to Programmatically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and Curate Research Data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Kyle Hemming  ·  Centre for eResearch  ·  University of Auckland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ResBaz NZ  ·  2 hours  ·  copilot.microsoft.com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874520" cy="3200400"/>
          </a:xfrm>
          <a:prstGeom prst="rect">
            <a:avLst/>
          </a:prstGeom>
          <a:solidFill>
            <a:srgbClr val="2D7D54"/>
          </a:solidFill>
          <a:ln w="12700">
            <a:solidFill>
              <a:srgbClr val="2D7D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+ framing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35204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58568" y="914400"/>
            <a:ext cx="1874520" cy="320040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50008" y="114300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350008" y="35204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min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242816" y="914400"/>
            <a:ext cx="1874520" cy="3200400"/>
          </a:xfrm>
          <a:prstGeom prst="rect">
            <a:avLst/>
          </a:prstGeom>
          <a:solidFill>
            <a:srgbClr val="145A3D"/>
          </a:solidFill>
          <a:ln w="12700">
            <a:solidFill>
              <a:srgbClr val="145A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34256" y="114300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334256" y="35204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min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227064" y="914400"/>
            <a:ext cx="1874520" cy="3200400"/>
          </a:xfrm>
          <a:prstGeom prst="rect">
            <a:avLst/>
          </a:prstGeom>
          <a:solidFill>
            <a:srgbClr val="0F3E28"/>
          </a:solidFill>
          <a:ln w="12700">
            <a:solidFill>
              <a:srgbClr val="0F3E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4300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18504" y="35204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74320" y="43434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Prerequisites: basic Python  ·  Google account  ·  Microsoft account for Copilot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 — setup checklist (5 min)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50392"/>
            <a:ext cx="420624" cy="420624"/>
          </a:xfrm>
          <a:prstGeom prst="ellipse">
            <a:avLst/>
          </a:prstGeom>
          <a:solidFill>
            <a:srgbClr val="2D7D54"/>
          </a:solidFill>
          <a:ln w="12700">
            <a:solidFill>
              <a:srgbClr val="2D7D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850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804672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workshop folder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133856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it exactly:  data curation workshop resources 30 June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2880" y="1673352"/>
            <a:ext cx="420624" cy="420624"/>
          </a:xfrm>
          <a:prstGeom prst="ellipse">
            <a:avLst/>
          </a:prstGeom>
          <a:solidFill>
            <a:srgbClr val="2D7D54"/>
          </a:solidFill>
          <a:ln w="12700">
            <a:solidFill>
              <a:srgbClr val="2D7D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1627632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data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956816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plants_site_A.csv from the Zoom chat into your folder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2880" y="2496312"/>
            <a:ext cx="420624" cy="420624"/>
          </a:xfrm>
          <a:prstGeom prst="ellipse">
            <a:avLst/>
          </a:prstGeom>
          <a:solidFill>
            <a:srgbClr val="2D7D54"/>
          </a:solidFill>
          <a:ln w="12700">
            <a:solidFill>
              <a:srgbClr val="2D7D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2496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2450592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working copy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2779776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CSV in Excel → Save As → plants_site_A_cleaned → save to folder, close the original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82880" y="3319272"/>
            <a:ext cx="420624" cy="420624"/>
          </a:xfrm>
          <a:prstGeom prst="ellipse">
            <a:avLst/>
          </a:prstGeom>
          <a:solidFill>
            <a:srgbClr val="2D7D54"/>
          </a:solidFill>
          <a:ln w="12700">
            <a:solidFill>
              <a:srgbClr val="2D7D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3319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3273552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Copilot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3602736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copilot.microsoft.com — log in with your university or personal Microsoft account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82880" y="4142232"/>
            <a:ext cx="420624" cy="420624"/>
          </a:xfrm>
          <a:prstGeom prst="ellipse">
            <a:avLst/>
          </a:prstGeom>
          <a:solidFill>
            <a:srgbClr val="2D7D54"/>
          </a:solidFill>
          <a:ln w="12700">
            <a:solidFill>
              <a:srgbClr val="2D7D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4142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4096512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Word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425696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document → title: Prompt log — data curation workshop — 30 June 2026 → save to folder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cost of data curation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846320" cy="4023360"/>
          </a:xfrm>
          <a:prstGeom prst="rect">
            <a:avLst/>
          </a:prstGeom>
          <a:solidFill>
            <a:srgbClr val="D4EDE1"/>
          </a:solidFill>
          <a:ln w="12700">
            <a:solidFill>
              <a:srgbClr val="D4ED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2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marathon metaphor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4480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think about research,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think about the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But most of the effort is in
</a:t>
            </a:r>
            <a:pPr indent="0" marL="0">
              <a:buNone/>
            </a:pPr>
            <a:r>
              <a:rPr lang="en-US" sz="1500" b="1" dirty="0">
                <a:solidFill>
                  <a:srgbClr val="2D7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the data ready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is the finish line.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work is before it.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303520" y="1005840"/>
            <a:ext cx="64008" cy="822960"/>
          </a:xfrm>
          <a:prstGeom prst="rect">
            <a:avLst/>
          </a:prstGeom>
          <a:solidFill>
            <a:srgbClr val="2D7D54"/>
          </a:solidFill>
          <a:ln w="12700">
            <a:solidFill>
              <a:srgbClr val="2D7D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32120" y="914400"/>
            <a:ext cx="3337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is almost never analysis-ready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532120" y="1335024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Outliers, typos, inconsistent formats, free text, missing values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03520" y="2240280"/>
            <a:ext cx="64008" cy="822960"/>
          </a:xfrm>
          <a:prstGeom prst="rect">
            <a:avLst/>
          </a:prstGeom>
          <a:solidFill>
            <a:srgbClr val="2D7D54"/>
          </a:solidFill>
          <a:ln w="12700">
            <a:solidFill>
              <a:srgbClr val="2D7D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32120" y="2148840"/>
            <a:ext cx="3337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cleaning is slow and hard to audit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32120" y="2569464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steps that don't appear in the methods — but take the most time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03520" y="3474720"/>
            <a:ext cx="64008" cy="822960"/>
          </a:xfrm>
          <a:prstGeom prst="rect">
            <a:avLst/>
          </a:prstGeom>
          <a:solidFill>
            <a:srgbClr val="2D7D54"/>
          </a:solidFill>
          <a:ln w="12700">
            <a:solidFill>
              <a:srgbClr val="2D7D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3383280"/>
            <a:ext cx="3337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change the pace, not the problem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32120" y="3803904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is about speeding up that process, reliably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scenario: West Auckland plant restoration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123444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4124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 field ecologist studying native plant regeneration across two sites in West Auckland.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 does weeding make a difference?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240280"/>
            <a:ext cx="3840480" cy="14630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2860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2816352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Weeding +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planting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800600" y="2240280"/>
            <a:ext cx="3840480" cy="146304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22860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00600" y="2816352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planting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(control)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" y="384048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was digitised from paper forms filled in the field and typed up six months later.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it analysis-ready for the final chapter of your PhD.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Copilot: your research assistant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D7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copilot.microsoft.com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with your university or personal Microsoft account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conversation = fresh context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carries within one chat. Start a new chat to reset everything.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17720" y="777240"/>
            <a:ext cx="36576" cy="40233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00600" y="777240"/>
            <a:ext cx="4069080" cy="74980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80467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will vary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92040" y="1170432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results will differ from mine — and from others in the room.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00600" y="1627632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research: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0600" y="1993392"/>
            <a:ext cx="4069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reproduce someone else's exact result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result may differ if you re-run it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property of how these models work — not a bug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return to what to do about it in the wrap-up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657600" cy="3657600"/>
          </a:xfrm>
          <a:prstGeom prst="ellipse">
            <a:avLst/>
          </a:prstGeom>
          <a:solidFill>
            <a:srgbClr val="2D7D54">
              <a:alpha val="25000"/>
            </a:srgbClr>
          </a:solidFill>
          <a:ln w="12700">
            <a:solidFill>
              <a:srgbClr val="2D7D54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560320"/>
            <a:ext cx="4114800" cy="4114800"/>
          </a:xfrm>
          <a:prstGeom prst="ellipse">
            <a:avLst/>
          </a:prstGeom>
          <a:solidFill>
            <a:srgbClr val="2D7D54">
              <a:alpha val="18000"/>
            </a:srgbClr>
          </a:solidFill>
          <a:ln w="12700">
            <a:solidFill>
              <a:srgbClr val="2D7D54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Wrap-up: Scaling Up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Copilot meets 1,520 rows?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what happens at scale?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475488"/>
          </a:xfrm>
          <a:prstGeom prst="rect">
            <a:avLst/>
          </a:prstGeom>
          <a:solidFill>
            <a:srgbClr val="D4EDE1"/>
          </a:solidFill>
          <a:ln w="12700">
            <a:solidFill>
              <a:srgbClr val="D4ED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0467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new Copilot conversation. Paste plants_sites_AB_large.csv (1,520 rows).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38988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→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8595360" cy="141732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737360"/>
            <a:ext cx="83027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Here is a dataset of 1,520 plant survey records from two sites.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 it: standardise the Site, Location, Quadrat, Flowering, and Species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columns the same way we have been working today. Return the cleaned dataset.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32461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D7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will accept the data and return something. That is the surprising part.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361188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zoom in on the cleaned_ columns. Ask the room: Did it do what we asked?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 mode: plausible but wrong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822960"/>
          <a:ext cx="7680960" cy="242316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Original value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Copilot's "cleaned" version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we actually needed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Loc-1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62828"/>
                          </a:solidFill>
                        </a:rPr>
                        <a:t>loc-1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5E20"/>
                          </a:solidFill>
                        </a:rPr>
                        <a:t>Loc_1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LOC1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62828"/>
                          </a:solidFill>
                        </a:rPr>
                        <a:t>loc1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5E20"/>
                          </a:solidFill>
                        </a:rPr>
                        <a:t>Loc_1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site_b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62828"/>
                          </a:solidFill>
                        </a:rPr>
                        <a:t>site_b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5E20"/>
                          </a:solidFill>
                        </a:rPr>
                        <a:t>Site_B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SITE_B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62828"/>
                          </a:solidFill>
                        </a:rPr>
                        <a:t>site_b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5E20"/>
                          </a:solidFill>
                        </a:rPr>
                        <a:t>Site_B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383280"/>
            <a:ext cx="8595360" cy="141732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34290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transformation, not semantic standardisation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applied lowercasing across 1,520 rows rather than matching to canonical values.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looks reasonable at a glance — harder to catch than an outright refusal.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us would have time to check every row manually.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else let you down today?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475488"/>
          </a:xfrm>
          <a:prstGeom prst="rect">
            <a:avLst/>
          </a:prstGeom>
          <a:solidFill>
            <a:srgbClr val="D4EDE1"/>
          </a:solidFill>
          <a:ln w="12700">
            <a:solidFill>
              <a:srgbClr val="D4ED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955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room — collect responses before moving 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490472"/>
            <a:ext cx="54864" cy="640080"/>
          </a:xfrm>
          <a:prstGeom prst="rect">
            <a:avLst/>
          </a:prstGeom>
          <a:solidFill>
            <a:srgbClr val="2D7D54"/>
          </a:solidFill>
          <a:ln w="12700">
            <a:solidFill>
              <a:srgbClr val="2D7D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varied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764792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prompt, different results between participants and between runs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359152"/>
            <a:ext cx="54864" cy="640080"/>
          </a:xfrm>
          <a:prstGeom prst="rect">
            <a:avLst/>
          </a:prstGeom>
          <a:solidFill>
            <a:srgbClr val="2D7D54"/>
          </a:solidFill>
          <a:ln w="12700">
            <a:solidFill>
              <a:srgbClr val="2D7D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286000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decisions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633472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changed things without asking — Q11→Q1, Flowering=0→No, Condition mapping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227832"/>
            <a:ext cx="54864" cy="640080"/>
          </a:xfrm>
          <a:prstGeom prst="rect">
            <a:avLst/>
          </a:prstGeom>
          <a:solidFill>
            <a:srgbClr val="2D7D54"/>
          </a:solidFill>
          <a:ln w="12700">
            <a:solidFill>
              <a:srgbClr val="2D7D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154680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record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3502152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 log required manual effort; Copilot kept no transcript of what it actually did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4096512"/>
            <a:ext cx="54864" cy="640080"/>
          </a:xfrm>
          <a:prstGeom prst="rect">
            <a:avLst/>
          </a:prstGeom>
          <a:solidFill>
            <a:srgbClr val="2D7D54"/>
          </a:solidFill>
          <a:ln w="12700">
            <a:solidFill>
              <a:srgbClr val="2D7D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023360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 calls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4370832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you didn't specify and weren't asked about — plausible, but yours to make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2×2 decision matrix — you were here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554480" y="6675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technical savvy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93208" y="6675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technical savvy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2880" y="1005840"/>
            <a:ext cx="13258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" y="2898648"/>
            <a:ext cx="13258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54480" y="4645152"/>
            <a:ext cx="6967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Technical savvy →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554480" y="1005840"/>
            <a:ext cx="3429000" cy="1783080"/>
          </a:xfrm>
          <a:prstGeom prst="rect">
            <a:avLst/>
          </a:prstGeom>
          <a:solidFill>
            <a:srgbClr val="E2E8F0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93208" y="1005840"/>
            <a:ext cx="3429000" cy="1783080"/>
          </a:xfrm>
          <a:prstGeom prst="rect">
            <a:avLst/>
          </a:prstGeom>
          <a:solidFill>
            <a:srgbClr val="E2E8F0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54480" y="2898648"/>
            <a:ext cx="3429000" cy="1783080"/>
          </a:xfrm>
          <a:prstGeom prst="rect">
            <a:avLst/>
          </a:prstGeom>
          <a:solidFill>
            <a:srgbClr val="27AE60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2898648"/>
            <a:ext cx="32461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is fine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were here today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93208" y="2898648"/>
            <a:ext cx="3429000" cy="1783080"/>
          </a:xfrm>
          <a:prstGeom prst="rect">
            <a:avLst/>
          </a:prstGeom>
          <a:solidFill>
            <a:srgbClr val="E2E8F0"/>
          </a:solidFill>
          <a:ln w="19050">
            <a:solidFill>
              <a:srgbClr val="D1D5DB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2×2 — the scale wall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554480" y="6675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technical savvy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93208" y="6675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technical savvy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2880" y="1005840"/>
            <a:ext cx="13258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" y="2898648"/>
            <a:ext cx="13258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54480" y="4645152"/>
            <a:ext cx="6967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Technical savvy →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554480" y="1005840"/>
            <a:ext cx="3429000" cy="1783080"/>
          </a:xfrm>
          <a:prstGeom prst="rect">
            <a:avLst/>
          </a:prstGeom>
          <a:solidFill>
            <a:srgbClr val="B03A2E"/>
          </a:solidFill>
          <a:ln w="19050">
            <a:solidFill>
              <a:srgbClr val="B03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1005840"/>
            <a:ext cx="32461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help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 · collaborator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93208" y="1005840"/>
            <a:ext cx="3429000" cy="1783080"/>
          </a:xfrm>
          <a:prstGeom prst="rect">
            <a:avLst/>
          </a:prstGeom>
          <a:solidFill>
            <a:srgbClr val="E2E8F0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54480" y="2898648"/>
            <a:ext cx="3429000" cy="1783080"/>
          </a:xfrm>
          <a:prstGeom prst="rect">
            <a:avLst/>
          </a:prstGeom>
          <a:solidFill>
            <a:srgbClr val="27AE60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0" y="2898648"/>
            <a:ext cx="32461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is fine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were here today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93208" y="2898648"/>
            <a:ext cx="3429000" cy="1783080"/>
          </a:xfrm>
          <a:prstGeom prst="rect">
            <a:avLst/>
          </a:prstGeom>
          <a:solidFill>
            <a:srgbClr val="E2E8F0"/>
          </a:solidFill>
          <a:ln w="19050">
            <a:solidFill>
              <a:srgbClr val="D1D5DB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1 — get Copilot to write the code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→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187452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124712"/>
            <a:ext cx="830275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Python code to clean this dataset. Standardise these columns: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Site: canonical value is "Site_A" or "Site_B"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Location: canonical values are "Loc_1", "Loc_2", "Loc_3", "Loc_4"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Quadrat: Q1, Q2, Q3, Q4, Q5, Q6  ·  Flowering: Yes or No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fuzzy matching where appropriate. Output cleaned_ columns alongside originals.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3154680"/>
            <a:ext cx="54864" cy="475488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063240"/>
            <a:ext cx="8321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 works first time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36499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have readable errors — troubleshootable without deep Python experience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3813048"/>
            <a:ext cx="54864" cy="475488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721608"/>
            <a:ext cx="8321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and auditable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402336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is the audit trail — same code, same result, every time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4471416"/>
            <a:ext cx="54864" cy="475488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379976"/>
            <a:ext cx="8321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barrier than expected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468172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writes it; you paste it into Colab or any Python environment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2×2 — coding confidence opens a middle path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554480" y="6675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technical savvy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93208" y="6675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technical savvy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2880" y="1005840"/>
            <a:ext cx="13258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" y="2898648"/>
            <a:ext cx="13258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54480" y="4645152"/>
            <a:ext cx="6967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Technical savvy →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554480" y="1005840"/>
            <a:ext cx="3429000" cy="1783080"/>
          </a:xfrm>
          <a:prstGeom prst="rect">
            <a:avLst/>
          </a:prstGeom>
          <a:solidFill>
            <a:srgbClr val="B03A2E"/>
          </a:solidFill>
          <a:ln w="19050">
            <a:solidFill>
              <a:srgbClr val="B03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1005840"/>
            <a:ext cx="32461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help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 · collaborator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93208" y="1005840"/>
            <a:ext cx="3429000" cy="1783080"/>
          </a:xfrm>
          <a:prstGeom prst="rect">
            <a:avLst/>
          </a:prstGeom>
          <a:solidFill>
            <a:srgbClr val="E2E8F0"/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54480" y="2898648"/>
            <a:ext cx="3429000" cy="1783080"/>
          </a:xfrm>
          <a:prstGeom prst="rect">
            <a:avLst/>
          </a:prstGeom>
          <a:solidFill>
            <a:srgbClr val="27AE60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0" y="2898648"/>
            <a:ext cx="32461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is fine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were here today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93208" y="2898648"/>
            <a:ext cx="3429000" cy="1783080"/>
          </a:xfrm>
          <a:prstGeom prst="rect">
            <a:avLst/>
          </a:prstGeom>
          <a:solidFill>
            <a:srgbClr val="CA6F1E"/>
          </a:solidFill>
          <a:ln w="19050">
            <a:solidFill>
              <a:srgbClr val="CA6F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84648" y="2898648"/>
            <a:ext cx="32461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Copilot-written scripts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2 — local LLM in Google Colab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475488"/>
          </a:xfrm>
          <a:prstGeom prst="rect">
            <a:avLst/>
          </a:prstGeom>
          <a:solidFill>
            <a:srgbClr val="D4EDE1"/>
          </a:solidFill>
          <a:ln w="12700">
            <a:solidFill>
              <a:srgbClr val="D4ED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8638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pre-run Colab output — do not run live. Point to scale, JSON output, uncertainty flags.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435608"/>
            <a:ext cx="347472" cy="347472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435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1371600"/>
            <a:ext cx="8092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key or account creation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808" y="1673352"/>
            <a:ext cx="8092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runs locally on a T4 GPU — Google Colab free tier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2148840"/>
            <a:ext cx="347472" cy="347472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2148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9808" y="2084832"/>
            <a:ext cx="8092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deterministic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9808" y="2386584"/>
            <a:ext cx="8092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do_sample=False — same output every run; directly answers the reproducibility limit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6032" y="2862072"/>
            <a:ext cx="347472" cy="347472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862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9808" y="2798064"/>
            <a:ext cx="8092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context window limit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9808" y="3099816"/>
            <a:ext cx="8092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over rows — process one record at a time, any dataset size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6032" y="3575304"/>
            <a:ext cx="347472" cy="347472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3575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" y="3511296"/>
            <a:ext cx="8092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9808" y="3813048"/>
            <a:ext cx="8092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JSON — parse directly into a dataframe, no cleaning of the output needed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6032" y="4288536"/>
            <a:ext cx="347472" cy="347472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4288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9808" y="4224528"/>
            <a:ext cx="8092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the audit trail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9808" y="4526280"/>
            <a:ext cx="8092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documented; re-run next year on the same dataset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2×2 decision matrix — where does your research sit?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554480" y="6675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technical savvy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93208" y="6675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technical savvy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2880" y="1005840"/>
            <a:ext cx="13258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" y="2898648"/>
            <a:ext cx="13258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54480" y="4645152"/>
            <a:ext cx="6967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05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Technical savvy →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554480" y="1005840"/>
            <a:ext cx="3429000" cy="1783080"/>
          </a:xfrm>
          <a:prstGeom prst="rect">
            <a:avLst/>
          </a:prstGeom>
          <a:solidFill>
            <a:srgbClr val="B03A2E"/>
          </a:solidFill>
          <a:ln w="19050">
            <a:solidFill>
              <a:srgbClr val="B03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1005840"/>
            <a:ext cx="32461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help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1,500+ rows or repeatable pipeline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93208" y="1005840"/>
            <a:ext cx="3429000" cy="1783080"/>
          </a:xfrm>
          <a:prstGeom prst="rect">
            <a:avLst/>
          </a:prstGeom>
          <a:solidFill>
            <a:srgbClr val="1A5276"/>
          </a:solidFill>
          <a:ln w="19050">
            <a:solidFill>
              <a:srgbClr val="1A52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84648" y="1005840"/>
            <a:ext cx="32461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LLM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· deterministic · auditable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554480" y="2898648"/>
            <a:ext cx="3429000" cy="1783080"/>
          </a:xfrm>
          <a:prstGeom prst="rect">
            <a:avLst/>
          </a:prstGeom>
          <a:solidFill>
            <a:srgbClr val="27AE60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0" y="2898648"/>
            <a:ext cx="32461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is fine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rows · one-off task · no pipeline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93208" y="2898648"/>
            <a:ext cx="3429000" cy="1783080"/>
          </a:xfrm>
          <a:prstGeom prst="rect">
            <a:avLst/>
          </a:prstGeom>
          <a:solidFill>
            <a:srgbClr val="CA6F1E"/>
          </a:solidFill>
          <a:ln w="19050">
            <a:solidFill>
              <a:srgbClr val="CA6F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84648" y="2898648"/>
            <a:ext cx="32461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Copilot-written scripts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2D7D54">
              <a:alpha val="20000"/>
            </a:srgbClr>
          </a:solidFill>
          <a:ln w="12700">
            <a:solidFill>
              <a:srgbClr val="2D7D54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657600"/>
            <a:ext cx="2743200" cy="2743200"/>
          </a:xfrm>
          <a:prstGeom prst="ellipse">
            <a:avLst/>
          </a:prstGeom>
          <a:solidFill>
            <a:srgbClr val="2D7D54">
              <a:alpha val="15000"/>
            </a:srgbClr>
          </a:solidFill>
          <a:ln w="12700">
            <a:solidFill>
              <a:srgbClr val="2D7D54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this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AI with research data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64008" cy="594360"/>
          </a:xfrm>
          <a:prstGeom prst="rect">
            <a:avLst/>
          </a:prstGeom>
          <a:solidFill>
            <a:srgbClr val="52A875"/>
          </a:solidFill>
          <a:ln w="12700">
            <a:solidFill>
              <a:srgbClr val="52A8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98448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627632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2D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paste patient records, student data, or identifiable participants into Copilot or any public chatbot. Check your institution's data governance guidelines before using any AI tool with research data.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64008" cy="594360"/>
          </a:xfrm>
          <a:prstGeom prst="rect">
            <a:avLst/>
          </a:prstGeom>
          <a:solidFill>
            <a:srgbClr val="52A875"/>
          </a:solidFill>
          <a:ln w="12700">
            <a:solidFill>
              <a:srgbClr val="52A8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12848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542032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2D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responsible for the outputs. Copilot does not know when it is wrong. Build checking into your workflow — not as an afterthought.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64008" cy="594360"/>
          </a:xfrm>
          <a:prstGeom prst="rect">
            <a:avLst/>
          </a:prstGeom>
          <a:solidFill>
            <a:srgbClr val="52A875"/>
          </a:solidFill>
          <a:ln w="12700">
            <a:solidFill>
              <a:srgbClr val="52A8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127248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3456432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2D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prompts you used, the tool, and the date. "I used AI" is not a sufficient methods statement.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64008" cy="594360"/>
          </a:xfrm>
          <a:prstGeom prst="rect">
            <a:avLst/>
          </a:prstGeom>
          <a:solidFill>
            <a:srgbClr val="52A875"/>
          </a:solidFill>
          <a:ln w="12700">
            <a:solidFill>
              <a:srgbClr val="52A8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041648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4370832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2D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journals and thesis guidelines require disclosure of AI tool use. Check before you submit.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2D7D54">
              <a:alpha val="20000"/>
            </a:srgbClr>
          </a:solidFill>
          <a:ln w="12700">
            <a:solidFill>
              <a:srgbClr val="2D7D54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474720"/>
            <a:ext cx="3200400" cy="3200400"/>
          </a:xfrm>
          <a:prstGeom prst="ellipse">
            <a:avLst/>
          </a:prstGeom>
          <a:solidFill>
            <a:srgbClr val="2D7D54">
              <a:alpha val="15000"/>
            </a:srgbClr>
          </a:solidFill>
          <a:ln w="12700">
            <a:solidFill>
              <a:srgbClr val="2D7D54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+ next steps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54864" cy="594360"/>
          </a:xfrm>
          <a:prstGeom prst="rect">
            <a:avLst/>
          </a:prstGeom>
          <a:solidFill>
            <a:srgbClr val="52A875"/>
          </a:solidFill>
          <a:ln w="12700">
            <a:solidFill>
              <a:srgbClr val="52A8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78992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notebook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426464"/>
            <a:ext cx="8138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D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Self-directed follow-up — same tasks, local LLM, 1,520-row dataset. Link in Zoom chat.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39112"/>
            <a:ext cx="54864" cy="594360"/>
          </a:xfrm>
          <a:prstGeom prst="rect">
            <a:avLst/>
          </a:prstGeom>
          <a:solidFill>
            <a:srgbClr val="52A875"/>
          </a:solidFill>
          <a:ln w="12700">
            <a:solidFill>
              <a:srgbClr val="52A8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47672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datasets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2295144"/>
            <a:ext cx="8138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D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plants_site_A.csv  ·  plants_site_B.csv  ·  plants_sites_AB_large.csv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07792"/>
            <a:ext cx="54864" cy="594360"/>
          </a:xfrm>
          <a:prstGeom prst="rect">
            <a:avLst/>
          </a:prstGeom>
          <a:solidFill>
            <a:srgbClr val="52A875"/>
          </a:solidFill>
          <a:ln w="12700">
            <a:solidFill>
              <a:srgbClr val="52A8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816352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materials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" y="3163824"/>
            <a:ext cx="8138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D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github.com/UoA-eResearch/embedding-llms-qualitative-data-workshop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776472"/>
            <a:ext cx="54864" cy="594360"/>
          </a:xfrm>
          <a:prstGeom prst="rect">
            <a:avLst/>
          </a:prstGeom>
          <a:solidFill>
            <a:srgbClr val="52A875"/>
          </a:solidFill>
          <a:ln w="12700">
            <a:solidFill>
              <a:srgbClr val="52A8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685032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for eResearch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4032504"/>
            <a:ext cx="8138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2D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eresearch.auckland.ac.nz  ·  Drop-in hours and consultation available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2D7D54"/>
          </a:solidFill>
          <a:ln w="12700">
            <a:solidFill>
              <a:srgbClr val="2D7D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498848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have a method, a tool, an analysis-ready dataset, and a map for what to do when the task gets bigger.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LLMs to Programmatically Extract and Curate Research Data</dc:title>
  <dc:subject>PptxGenJS Presentation</dc:subject>
  <dc:creator>PptxGenJS</dc:creator>
  <cp:lastModifiedBy>PptxGenJS</cp:lastModifiedBy>
  <cp:revision>1</cp:revision>
  <dcterms:created xsi:type="dcterms:W3CDTF">2026-06-17T03:13:41Z</dcterms:created>
  <dcterms:modified xsi:type="dcterms:W3CDTF">2026-06-17T03:13:41Z</dcterms:modified>
</cp:coreProperties>
</file>